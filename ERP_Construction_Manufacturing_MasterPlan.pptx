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ENTERPRISE ARCHITECTURE &amp; EXECUTION PLAN</a:t>
            </a:r>
          </a:p>
          <a:p>
            <a:pPr algn="ctr">
              <a:defRPr sz="3400" b="1">
                <a:solidFill>
                  <a:srgbClr val="F8FAFC"/>
                </a:solidFill>
              </a:defRPr>
            </a:pPr>
            <a:r>
              <a:t>KẾ HOẠCH PHÁT TRIỂN HỆ THỐNG ERP</a:t>
            </a:r>
            <a:br/>
            <a:r>
              <a:t>NGÀNH XÂY DỰNG &amp; SẢN XUẤT NHÀ MÁY</a:t>
            </a:r>
          </a:p>
          <a:p>
            <a:br/>
            <a:pPr algn="ctr">
              <a:defRPr sz="1500">
                <a:solidFill>
                  <a:srgbClr val="94A3B8"/>
                </a:solidFill>
              </a:defRPr>
            </a:pPr>
            <a:r>
              <a:t>Kiến trúc Modular Monolith trên nền .NET 8/9 &amp; React.js | Quản trị WBS, BOQ &amp; BOM | Điều phối Team 3–5 Kỹ sư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120640"/>
            <a:ext cx="2926080" cy="914400"/>
          </a:xfrm>
          <a:prstGeom prst="roundRect">
            <a:avLst/>
          </a:prstGeom>
          <a:solidFill>
            <a:srgbClr val="121D33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2FE"/>
                </a:solidFill>
              </a:defRPr>
            </a:pPr>
            <a:r>
              <a:t>VAI TRÒ PHỤ TRÁCH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Tech Lead / Solution Architect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5120640"/>
            <a:ext cx="2926080" cy="914400"/>
          </a:xfrm>
          <a:prstGeom prst="roundRect">
            <a:avLst/>
          </a:prstGeom>
          <a:solidFill>
            <a:srgbClr val="121D33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2FE"/>
                </a:solidFill>
              </a:defRPr>
            </a:pPr>
            <a:r>
              <a:t>QUY MÔ ĐỘI NGŨ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 Tech Lead (50% code) + 3–5 Devs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5120640"/>
            <a:ext cx="2926080" cy="914400"/>
          </a:xfrm>
          <a:prstGeom prst="roundRect">
            <a:avLst/>
          </a:prstGeom>
          <a:solidFill>
            <a:srgbClr val="121D33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2FE"/>
                </a:solidFill>
              </a:defRPr>
            </a:pPr>
            <a:r>
              <a:t>LỘ TRÌNH THỰC HIỆN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0 ➔ 1 trong 8–9 Tháng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DOMAIN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Bối Cảnh &amp; Thách Thức Nghiệp Vụ Cốt Lõi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Hai phân hệ lớn với đặc thù vận hành hoàn toàn trái ngược nhau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🏗️ PHÂN HỆ XÂY DỰNG &amp; CÔNG TRƯỜNG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Phi tập trung theo công trình: Dữ liệu công trường trải dài khắp các tỉnh thành.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Dự toán BOQ &amp; Cây WBS: Cây phân rã công việc nhiều cấp, quản lý đường găng tiến độ (Gantt).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Thầu phụ &amp; Hao hụt vật tư: Kiểm soát chặt chẽ cấp phát vật tư vs định mức dự toán.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Nhật ký hiện trường: Ứng dụng PWA gọn nhẹ, chụp ảnh đính kèm GPS &amp; thời tiết.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🏭 PHÂN HỆ SẢN XUẤT &amp; NHÀ MÁY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Định mức BOM &amp; Routing: Cấu trúc BOM nhiều tầng; quy trình công nghệ qua nhiều chuyền máy móc.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Hoạch định MRP/MPS: Tính toán chính xác thời điểm và số lượng nguyên vật liệu cần mua.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Lệnh sản xuất (Work Order): Giao việc xuống từng ca/kíp; cập nhật sản lượng thời gian thực.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Kiểm soát chất lượng (QC): 3 chốt chặn bắt buộc IQC (Đầu vào) - PQC (Tại chuyền) - FQC (Thành phẩm).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ARCHITECTURE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Chiến Lược Kiến Trúc: Modular Monolith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Lý do tối ưu vượt trội so với Pure Microservices ở giai đoạn đầu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TỐC ĐỘ BÀN GIAO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Loại bỏ hoàn toàn chi phí phát sinh của Microservices: Không rủi ro network latency, không bế tắc distributed transactions (Saga/2PC).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BOUNDED CONTEXTS ĐỘC LẬP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Chia module rành mạch theo nguyên lý DDD: Construction, Manufacturing, Inventory, Workflow. Mỗi module sở hữu schema riêng.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SẴN SÀNG TÁCH MICROSERVICES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Giao tiếp nội bộ qua In-Memory Bus (MediatR) hoặc Outbox Pattern với RabbitMQ. Có thể bóc tách độc lập bất cứ lúc nào.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0D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2FE"/>
                </a:solidFill>
              </a:defRPr>
            </a:pPr>
            <a:r>
              <a:t>STACK CÔNG NGHỆ CHÍNH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Frontend: React 18/19, TypeScript, Mantine UI, TanStack Query &amp; Table, DHTMLX Gantt</a:t>
            </a:r>
            <a:br/>
            <a:r>
              <a:t>• Backend: .NET 8/9 Core, Clean Architecture, EF Core, Dapper, MediatR, MassTransit</a:t>
            </a:r>
            <a:br/>
            <a:r>
              <a:t>• Hạ tầng: PostgreSQL, Redis (RedLock), RabbitMQ, MinIO S3, Docker &amp; Kubernetes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ENGINEERING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Chiến Lược Phân Bổ 50% Coding Của Tech Lead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Đảm bảo lõi kỹ thuật vững vàng, phân công minh bạch cho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💻 TECH LEAD TRỰC TIẾP CODE (50% THỜI GIAN)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Base Framework: Clean Architecture Solution Template, Result Pattern, Global Error Handling, Auditing Interceptor.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Workflow Engine: State Machine duyệt đa cấp, duyệt theo điều kiện ngân sách, duyệt song song/tuần tự.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IAM &amp; Phân quyền Ma trận: RBAC/ABAC sâu đến từng dòng dữ liệu theo dự án (Row-level Security).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Asynchronous &amp; Event Bus: Outbox Pattern, RabbitMQ Consumers, Distributed Locks chống xuất âm kho.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DevOps &amp; Infrastructure: Docker multi-stage, CI/CD pipeline, K8s manifests, Helm charts.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👥 ỦY QUYỀN CHO TEAM 3–5 ENGINEERS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Backend Developers (1 Senior + 1 Mid):</a:t>
            </a:r>
            <a:br/>
            <a:r>
              <a:t>  - Viết các API CRUD chuẩn hóa cho danh mục (Vật tư, Đối tác, Phòng ban).</a:t>
            </a:r>
            <a:br/>
            <a:r>
              <a:t>  - Xây dựng Business Logic cho các use-case nghiệp vụ thông thường.</a:t>
            </a:r>
            <a:br/>
            <a:r>
              <a:t>  - Viết Unit / Integration Test đạt coverage &gt; 70%.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Frontend Developers (1 Senior + 1 Mid):</a:t>
            </a:r>
            <a:br/>
            <a:r>
              <a:t>  - Dựng các màn hình chi tiết, form nhập liệu theo wireframe.</a:t>
            </a:r>
            <a:br/>
            <a:r>
              <a:t>  - Tích hợp Interactive Gantt Chart và Table dữ liệu lớn.</a:t>
            </a:r>
            <a:br/>
            <a:r>
              <a:t>  - Tối ưu hóa trải nghiệm người dùng hiện trường (Mobile PWA).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Phần việc còn lại của Tech Lead:</a:t>
            </a:r>
            <a:br/>
            <a:r>
              <a:t>  - 20% Review PR hằng ngày (bắt buộc trước khi merge develop).</a:t>
            </a:r>
            <a:br/>
            <a:r>
              <a:t>  - 20% Làm việc với PM/PO/BA/QA, lập kế hoạch Sprint.</a:t>
            </a:r>
            <a:br/>
            <a:r>
              <a:t>  - 10% Mentoring, 1-on-1, vận hành K8s và tối ưu chi phí.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MASTER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Lộ Trình Triển Khai 5 Giai Đoạn (8–9 Tháng)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Mỗi Sprint đều có sản phẩm chạy được để demo cho các bên liên quan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t>PHASE 0 (1 Tháng) - Foundation &amp; CI/CD Pipeline: Dựng Solution Template, Clean Architecture, Linter, CI/CD tự động, K8s cluster Dev/Staging, Quy chuẩn DoD &amp; 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t>PHASE 1 (2 Tháng) - Core Platform &amp; Workflow Engine: Quản trị người dùng (IAM), Ma trận phân quyền 3 lớp, Master Data dùng chung, Động cơ phê duyệt động đa cấp.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t>PHASE 2 (2 Tháng) - Dự Án &amp; Công Trình Xây Dựng: Dự toán BOQ, WBS &amp; Interactive Gantt, Nhật ký thi công PWA, Nghiệm thu thanh toán A-B, Kiểm soát hao hụt vật tư.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t>PHASE 3 (2 Tháng) - Điều Hành Sản Xuất &amp; Nhà Máy: Định mức BOM nhiều cấp, Routing công nghệ, Hoạch định MRP/MPS, Lệnh sản xuất (Work Order), Kiểm soát chất lượng QC.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21D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t>PHASE 4 (1.5 Tháng) - Dòng Tiền, Load Test &amp; Golive: Tính giá thành P&amp;L theo dự án/xưởng, Executive BI Dashboard, Stress Test (k6: 1,000 CCU), UAT Pilot và Golive.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CONSTRUCTION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Phân Hệ Quản Lý Dự Án &amp; Công Trình Xây Dựng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Quản lý thi công toàn diện từ kế hoạch đến nghiệm thu hiện trường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DỰ TOÁN &amp; BOQ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Import bảng dự toán từ Excel/CAD.</a:t>
            </a:r>
            <a:br/>
            <a:r>
              <a:t>• Phân bổ ngân sách theo từng gói thầu/hạng mục.</a:t>
            </a:r>
            <a:br/>
            <a:r>
              <a:t>• Cảnh báo tức thì khi chi phí thi công chạm ngưỡng vượt dự toán (Budget Overrun).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WBS &amp; GANTT CHART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Cây phân rã công việc nhiều cấp độ.</a:t>
            </a:r>
            <a:br/>
            <a:r>
              <a:t>• Kéo thả quan hệ công việc (FS, SS, FF, SF) và đường găng (Critical Path).</a:t>
            </a:r>
            <a:br/>
            <a:r>
              <a:t>• Cập nhật tiến độ % hoàn thành realtime.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NHẬT KÝ THI CÔNG PWA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Ghi nhận thời tiết, thiết bị, nhân công tại chỗ.</a:t>
            </a:r>
            <a:br/>
            <a:r>
              <a:t>• Chụp ảnh tiến độ đính kèm GPS &amp; Timestamp.</a:t>
            </a:r>
            <a:br/>
            <a:r>
              <a:t>• Hoạt động mượt mà ngay cả khi mạng yếu.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MANUFACTURING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Phân Hệ Điều Hành Sản Xuất &amp; Nhà Máy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Khép kín từ hoạch định vật tư đến quản lý chất lượng và bảo trì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D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BOM &amp; ROUTING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Định mức nguyên vật liệu BOM nhiều cấp.</a:t>
            </a:r>
            <a:br/>
            <a:r>
              <a:t>• Định nghĩa Routing qua các công đoạn: Cắt, Hàn, Sơn, Lắp ráp, Đóng gói.</a:t>
            </a:r>
            <a:br/>
            <a:r>
              <a:t>• Chuẩn hóa thời gian chu kỳ (Cycle Time).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D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KẾ HOẠCH MRP &amp; LỆNH SX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Thuật toán MRP tính toán nhu cầu mua nguyên vật liệu chính xác, tránh thiếu hụt.</a:t>
            </a:r>
            <a:br/>
            <a:r>
              <a:t>• Lập Lệnh sản xuất (Work Order) xuống từng tổ đội/máy móc.</a:t>
            </a:r>
            <a:br/>
            <a:r>
              <a:t>• Bắn mã barcode/QR ghi nhận sản lượng.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D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QUẢN LÝ CHẤT LƯỢNG (QC)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IQC: Kiểm tra NVL đầu vào kho.</a:t>
            </a:r>
            <a:br/>
            <a:r>
              <a:t>• PQC: Kiểm soát thông số tại chuyền.</a:t>
            </a:r>
            <a:br/>
            <a:r>
              <a:t>• FQC: Nghiệm thu thành phẩm nhập kho.</a:t>
            </a:r>
            <a:br/>
            <a:r>
              <a:t>• Ghi nhận tỷ lệ phế phẩm &amp; chi phí sửa chữa.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QUALITY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Quy Trình Agile/Scrum &amp; Kỷ Luật Kỹ Thuật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Đảm bảo chất lượng bằng tự động hóa và tiêu chuẩn nghiệm thu nghiêm ngặt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🔄 VÒNG QUAY AGILE (SPRINT 2 TUẦN)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Sprint Planning (2h): Phân tích User Story, tiêu chí chấp nhận (AC) rõ ràng; chấm điểm Story Points (Planning Poker).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Daily Standup (15p): Tập trung tháo gỡ blocker, giải cứu kịp thời các vướng mắc kỹ thuật.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Definition of Ready (DoR): Chỉ kéo story vào Sprint khi đã có Wireframe/UI, Data Flow &amp; API Contract.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Sprint Review &amp; Retro: Demo sản phẩm chạy thực tế; rút kinh nghiệm cải tiến quy trình ngay sau mỗi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🛡️ TIÊU CHUẨN REVIEW &amp; DEFINITION OF DONE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Quy tắc PR &lt; 400 dòng: Giới hạn kích thước PR để review sâu sắc, phát hiện sớm các lỗ hổng kiến trúc.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Bắt buộc 1 Approval: Tech Lead hoặc Senior duyệt trước khi merge vào nhánh develop.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Pipeline CI Tự Động: 100% Unit Tests pass, 0 lỗi Linter/Roslyn Analyzer, SonarQube Quality Gate đạt chuẩn.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Definition of Done (DoD): Code sạch, Test coverage &gt; 70%, đã deploy Staging và QA nghiệm thu 100% test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FINOPS &amp;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Vận Hành Kubernetes &amp; Tối Ưu Chi Phí Cloud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Hạ tầng hiệu năng cao nhưng tiết kiệm tối đa ngân sách công 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💰 FINOPS: CHIẾN LƯỢC TIẾT KIỆM 2 GIAI ĐOẠN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Giai đoạn MVP (Tháng 1 - 5):</a:t>
            </a:r>
            <a:br/>
            <a:r>
              <a:t>  - Không dùng cụm Managed K8s đắt tiền trên AWS/Azure.</a:t>
            </a:r>
            <a:br/>
            <a:r>
              <a:t>  - Dùng 2-3 VPS cấu hình cao cài đặt K3s/RKE2.</a:t>
            </a:r>
            <a:br/>
            <a:r>
              <a:t>  - Chi phí hạ tầng &lt; $150 - $250 / tháng nhưng hiệu năng cực cao.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Giai đoạn Production (Tháng 6 trở đi):</a:t>
            </a:r>
            <a:br/>
            <a:r>
              <a:t>  - Chuyển sang Managed K8s khi người dùng tăng thực tế.</a:t>
            </a:r>
            <a:br/>
            <a:r>
              <a:t>  - Tận dụng Spot Instances cho môi trường Dev/Staging (tiết kiệm 60-80%).</a:t>
            </a:r>
            <a:br/>
            <a:r>
              <a:t>  - Lưu trữ bản vẽ CAD/PDF trên MinIO S3 (Block Storage giá rẻ).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📡 GIÁM SÁT APM &amp; ỨNG CỨU SỰ CỐ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Log tập trung qua Seq / Loki: Định dạng JSON chuẩn, tra cứu trace lỗi trong vòng 3 giây.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Metrics &amp; APM qua OpenTelemetry: Đo thời gian phản hồi của từng Database Query và External API call.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Dashboard Grafana: Giám sát CPU, RAM, Network I/O và Pod Health theo thời gian thực.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Cảnh báo tức thì: Bắn alert vào Telegram/Slack của Tech Lead khi HTTP 5xx &gt; 2% hoặc RAM Pod vượt 85%.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0D1E3C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Kế Hoạch Hành Động 2 Tuần Đầu Tiên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Lộ trình tác chiến tức thì đưa dự án từ con số 0 vào guồng quay chuyên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📅 TUẦN 1: THIẾT LẬP MÓNG &amp; KHÓA SCOPE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Ngày 1 - 2: Họp chiến lược với PO/BA và Ban Lãnh đạo, chốt danh sách User Stories ưu tiên số 1 của Phase 1.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Ngày 3 - 4: Tech Lead khởi tạo Skeleton Solution (.NET 8/9 Clean Architecture + React Vite + TypeScript + Mantine UI).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Ngày 5: Dựng Docker Compose local (App + Postgres + Redis + RabbitMQ) và cấu hình CI/CD Pipeline trên GitHub/GitLab.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D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🚀 TUẦN 2: KICKOFF TEAM &amp; CHẠY SPRINT 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Ngày 6 - 7: Tổ chức Workshop kỹ thuật cho toàn team: Quán triệt Clean Architecture, Git Flow, tiêu chuẩn PR và DoD.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Ngày 8 - 9: Tech Lead hoàn thiện Base Entity, Dynamic Workflow Skeleton và Module IAM (Auth, RBAC).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Ngày 10: Họp Sprint 1 Planning: Phân công nhiệm vụ chi tiết trên bảng Jira cho từng dev để bắt đầu bứt tốc.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READY FOR EXECUTION</a:t>
            </a:r>
          </a:p>
          <a:p>
            <a:pPr algn="ctr">
              <a:defRPr sz="3600" b="1">
                <a:solidFill>
                  <a:srgbClr val="F8FAFC"/>
                </a:solidFill>
              </a:defRPr>
            </a:pPr>
            <a:r>
              <a:t>HỆ THỐNG VỮNG CHẮC — ĐỘI NGŨ TINH GỌN</a:t>
            </a:r>
          </a:p>
          <a:p>
            <a:br/>
            <a:pPr algn="ctr">
              <a:defRPr sz="1600">
                <a:solidFill>
                  <a:srgbClr val="94A3B8"/>
                </a:solidFill>
              </a:defRPr>
            </a:pPr>
            <a:r>
              <a:t>Kiến trúc thực dụng, Kỷ luật kỹ thuật nghiêm ngặt và 50% thời gian code trực tiếp của Tech Lead.</a:t>
            </a:r>
            <a:br/>
            <a:r>
              <a:t>Chúng ta sẵn sàng đưa hệ thống ERP vận hành thành công!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